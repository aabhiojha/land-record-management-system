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7655E2-0E44-41EA-AFCA-DC4C675DB4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6A4806-7EB4-4520-9090-B68A9C909C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A03E20-7306-4305-BA92-F81DA9645F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1E03BB-7965-49B1-818C-AF1EB40C29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505A79-58D6-46BA-866A-66DF2EDFFF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B0A721-AEED-4957-A540-974A3A7964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CB8135-97F6-4BA3-B401-D6D4797C10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23F10C-09BF-444D-AAAA-425DD4A6B9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4B2D35-B325-4980-86CE-E2F581B7CB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A50762-AA3A-475F-B500-17099570D0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CB2F1B-26C7-44B1-AD95-2B0BEB1DC4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1371600" y="457200"/>
            <a:ext cx="94179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Tribhuvan University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Institute of Science and Technology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Amrit Campus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371600" y="2103120"/>
            <a:ext cx="9417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Project Work Report 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C9782B"/>
                </a:solidFill>
                <a:effectLst/>
                <a:uFillTx/>
                <a:latin typeface="Calibri"/>
              </a:rPr>
              <a:t>Blockchain Based Land Registry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371600" y="3749040"/>
            <a:ext cx="9417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Under the Supervision of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Mr. Dhirendra Kumar Yadav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Department of Computer Science &amp; Information Technology, Amrit Campus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In partial fulfillment of the requirements for the Bachelor of Science 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</a:rPr>
              <a:t>Computer Science and Information Technology (B.Sc. CSIT), Tribhuvan University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371600" y="5486400"/>
            <a:ext cx="9417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Submitted by:  Mr. Abhishek Ojha (Roll No. 79010148 / Batch 2079)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Mr. Bivu Paudel (Roll No. 79010176 / Batch 2079)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July,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0" y="667512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502920" y="1371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Introduction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3"/>
          <p:cNvSpPr/>
          <p:nvPr/>
        </p:nvSpPr>
        <p:spPr>
          <a:xfrm>
            <a:off x="0" y="105156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640080" y="1417320"/>
            <a:ext cx="1088100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Land ownership is a fundamental component of economic and social systems worldwide.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Traditional land record systems rely on paper-based documentation and centralized databases, vulnerable to unauthorized modification, data inconsistency, and single points of failure.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This project implements a Proof of Concept (PoC) Land Record Management System applying blockchain-inspired cryptographic techniques — SHA-256 hashing, Hash Chain, and Merkle Tree — to secure digital land records.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Built using React (frontend), Spring Boot (backend), and PostgreSQL (database), with role-based access for Super Admin, Malpot Officer, and Citizen.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502920" y="1371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Problem Statement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3"/>
          <p:cNvSpPr/>
          <p:nvPr/>
        </p:nvSpPr>
        <p:spPr>
          <a:xfrm>
            <a:off x="0" y="105156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640080" y="1417320"/>
            <a:ext cx="1088100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Centralized storage of land records creates a single point of failure — vulnerable to unauthorized modification, data loss, and security breaches.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Maintaining a complete and verifiable history of land ownership is difficult, reducing transparency and complicating verification.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Conventional database systems permit unaudited modification of stored data, increasing the risk of record tampering.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Stakeholders must rely heavily on the managing authority to ensure accuracy, authenticity, and consistency of land records.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This project addresses these gaps with cryptographic integrity mechanisms that detect unauthorized modification and maintain an auditable record history.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502920" y="1371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Literature Review (in short)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0" y="105156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640080" y="1417320"/>
            <a:ext cx="1088100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Blockchain provides data integrity, transparency, and tamper resistance through cryptographic techniques — its underlying structures (hash functions, Hash Chains, Merkle Trees) can be applied without full decentralized consensus.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Researchers have proposed blockchain-based frameworks using distributed ledgers and smart contracts to eliminate single points of failure and maintain immutable land ownership history.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Real-world precedents: Georgia's NAPR + BitFury secured 1.5M+ land titles; Sweden's Lantmäteriet piloted with ChromaWay; Dubai Land Department and Ghana's Bitland applied blockchain for tamper-resistant registration.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Motivated by these findings, this project applies SHA-256 hashing, Hash Chains, and Merkle Trees to strengthen integrity and traceability of digital land records.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502920" y="1371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System Diagram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3"/>
          <p:cNvSpPr/>
          <p:nvPr/>
        </p:nvSpPr>
        <p:spPr>
          <a:xfrm>
            <a:off x="0" y="105156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4" descr="architecture.png"/>
          <p:cNvPicPr/>
          <p:nvPr/>
        </p:nvPicPr>
        <p:blipFill>
          <a:blip r:embed="rId1"/>
          <a:stretch/>
        </p:blipFill>
        <p:spPr>
          <a:xfrm>
            <a:off x="2145600" y="1234440"/>
            <a:ext cx="790020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5"/>
          <p:cNvSpPr/>
          <p:nvPr/>
        </p:nvSpPr>
        <p:spPr>
          <a:xfrm>
            <a:off x="640080" y="644652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Three-tier architecture: Presentation (React) → Application (Spring Boot) → Data (PostgreSQL), with cryptographic integrity cross-cutting all layers.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502920" y="1371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Used Algorithms — SHA-256 &amp; Hash Chain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3"/>
          <p:cNvSpPr/>
          <p:nvPr/>
        </p:nvSpPr>
        <p:spPr>
          <a:xfrm>
            <a:off x="0" y="105156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502920" y="2423520"/>
            <a:ext cx="5760360" cy="16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SHA-256: cryptographic hash function producing a fixed 256-bit digest from input of arbitrary length.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Compresses each 512-bit message block through 64 rounds mixing logical functions Ch, Maj, Σ0, Σ1.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Hash Chain: each record's hash incorporates the previous record's hash, so altering history breaks the chain.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6" descr="sha_rounds.png"/>
          <p:cNvPicPr/>
          <p:nvPr/>
        </p:nvPicPr>
        <p:blipFill>
          <a:blip r:embed="rId1"/>
          <a:stretch/>
        </p:blipFill>
        <p:spPr>
          <a:xfrm>
            <a:off x="6537960" y="1371600"/>
            <a:ext cx="5211720" cy="491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502920" y="1371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Used Algorithms — Merkle Tree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3"/>
          <p:cNvSpPr/>
          <p:nvPr/>
        </p:nvSpPr>
        <p:spPr>
          <a:xfrm>
            <a:off x="0" y="105156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Picture 4" descr="merkle_tree.png"/>
          <p:cNvPicPr/>
          <p:nvPr/>
        </p:nvPicPr>
        <p:blipFill>
          <a:blip r:embed="rId1"/>
          <a:stretch/>
        </p:blipFill>
        <p:spPr>
          <a:xfrm>
            <a:off x="1622160" y="1234440"/>
            <a:ext cx="894672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Box 5"/>
          <p:cNvSpPr/>
          <p:nvPr/>
        </p:nvSpPr>
        <p:spPr>
          <a:xfrm>
            <a:off x="640080" y="644652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Merkle Root = recursive hash of paired child hashes; any record change alters the root, enabling O(log n) proof verification.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502920" y="1371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Development Methodology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3"/>
          <p:cNvSpPr/>
          <p:nvPr/>
        </p:nvSpPr>
        <p:spPr>
          <a:xfrm>
            <a:off x="0" y="105156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6" name="Picture 4" descr="methodology.png"/>
          <p:cNvPicPr/>
          <p:nvPr/>
        </p:nvPicPr>
        <p:blipFill>
          <a:blip r:embed="rId1"/>
          <a:stretch/>
        </p:blipFill>
        <p:spPr>
          <a:xfrm>
            <a:off x="1439280" y="1234440"/>
            <a:ext cx="9312840" cy="32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Box 5"/>
          <p:cNvSpPr/>
          <p:nvPr/>
        </p:nvSpPr>
        <p:spPr>
          <a:xfrm>
            <a:off x="640080" y="644652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0" i="1" u="none" strike="noStrike">
                <a:solidFill>
                  <a:srgbClr val="666666"/>
                </a:solidFill>
                <a:effectLst/>
                <a:uFillTx/>
                <a:latin typeface="Calibri"/>
              </a:rPr>
              <a:t>Data collection (staff interviews + study of existing systems) through requirement analysis, design, implementation, testing, and documentation.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502920" y="1371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FC4DE"/>
                </a:solidFill>
                <a:effectLst/>
                <a:uFillTx/>
                <a:latin typeface="Calibri"/>
              </a:rPr>
              <a:t>Chapter 6: Testing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Testing and Result Analysis — Unit Testing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3"/>
          <p:cNvSpPr/>
          <p:nvPr/>
        </p:nvSpPr>
        <p:spPr>
          <a:xfrm>
            <a:off x="0" y="105156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01" name="Table 4"/>
          <p:cNvGraphicFramePr/>
          <p:nvPr/>
        </p:nvGraphicFramePr>
        <p:xfrm>
          <a:off x="365760" y="1325880"/>
          <a:ext cx="11246760" cy="502884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3383280"/>
                <a:gridCol w="3931920"/>
                <a:gridCol w="1005840"/>
              </a:tblGrid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ID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Test Scenario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Input Test Data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Expected Result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Result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UT-01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User Login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Email: ram@example.com, Password: citizen123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User authenticated and redirected to dashboard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UT-02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User Registration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Name, Email, Password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Account should be created successfully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UT-03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Create Land Record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Owner details, land info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Land record stored with SHA-256 hash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UT-04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SHA-256 Hash Generation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Land record data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Unique hash should be generated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UT-05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Document Upload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PDF / Image file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File stored with integrity hash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502920" y="1371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FC4DE"/>
                </a:solidFill>
                <a:effectLst/>
                <a:uFillTx/>
                <a:latin typeface="Calibri"/>
              </a:rPr>
              <a:t>Chapter 6: Testing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Testing and Result Analysis — Integration Testing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3"/>
          <p:cNvSpPr/>
          <p:nvPr/>
        </p:nvSpPr>
        <p:spPr>
          <a:xfrm>
            <a:off x="0" y="105156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05" name="Table 4"/>
          <p:cNvGraphicFramePr/>
          <p:nvPr/>
        </p:nvGraphicFramePr>
        <p:xfrm>
          <a:off x="365760" y="1325880"/>
          <a:ext cx="11246760" cy="502884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3017520"/>
                <a:gridCol w="3931920"/>
                <a:gridCol w="1005840"/>
              </a:tblGrid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ID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Test Scenario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Input Test Data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Expected Result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Result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IT-01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Login to Dashboard Integration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Valid user credentials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User accesses role-based dashboard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IT-02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Land Record Storage Flow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Land details (via frontend)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Data stored in DB with hash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IT-03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Ownership Transfer Flow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Transfer request data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Transfer completes successfully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IT-04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Backend–Database Integration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GET request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Data retrieved correctly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IT-05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Document Verification Integration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File upload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File hash matches stored hash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502920" y="1371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FC4DE"/>
                </a:solidFill>
                <a:effectLst/>
                <a:uFillTx/>
                <a:latin typeface="Calibri"/>
              </a:rPr>
              <a:t>Chapter 6: Testing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Testing and Result Analysis — System Testing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3"/>
          <p:cNvSpPr/>
          <p:nvPr/>
        </p:nvSpPr>
        <p:spPr>
          <a:xfrm>
            <a:off x="0" y="105156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09" name="Table 4"/>
          <p:cNvGraphicFramePr/>
          <p:nvPr/>
        </p:nvGraphicFramePr>
        <p:xfrm>
          <a:off x="365760" y="1325880"/>
          <a:ext cx="10881000" cy="502884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2651760"/>
                <a:gridCol w="4023360"/>
                <a:gridCol w="1005840"/>
              </a:tblGrid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ID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Test Scenario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Input Test Data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Expected Result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Result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ST-01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End-to-End User Workflow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All role users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Complete workflow executes successfully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ST-02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Role-Based Access Control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Citizen accessing admin panel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Access correctly denied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ST-03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Integrity Verification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Altered record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System detects tampering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ST-04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Merkle Tree Verification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Record 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Proof validation succeeds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ST-05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Audit Logging System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Any CRUD operations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All actions logged correctly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E7D4F"/>
                          </a:solidFill>
                          <a:effectLst/>
                          <a:uFillTx/>
                          <a:latin typeface="Calibri"/>
                        </a:rPr>
                        <a:t>Pass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502920" y="1371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Conclusion and Future Recommendation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3"/>
          <p:cNvSpPr/>
          <p:nvPr/>
        </p:nvSpPr>
        <p:spPr>
          <a:xfrm>
            <a:off x="0" y="105156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640080" y="1417320"/>
            <a:ext cx="1088100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Conclusion: Successfully implemented and tested a PoC Land Record Management System — role-based access, ownership transfer workflow, and SHA-256/Hash Chain/Merkle Tree integrity verification — confirming integrity, transparency, and traceability of land records.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Future Scope: Migrate to Hyperledger Fabric with channels / private data collections, so only the parties and offices involved in a transfer see its details.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Future Scope: Move documents (deeds, maps, photos) to IPFS — content-addressed, tamper-evident off-chain storage, with only the hash kept on-chain.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Future Scope: Add zero-knowledge proofs for privacy-preserving ownership verification, and smart-contract escrow for holding transaction price until approval.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 Future Scope: Integrate GIS/drone-based boundary data and ML-based anomaly detection to flag suspicious transfer patterns or forged documents.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502920" y="1371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Acknowledgements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3"/>
          <p:cNvSpPr/>
          <p:nvPr/>
        </p:nvSpPr>
        <p:spPr>
          <a:xfrm>
            <a:off x="0" y="1051560"/>
            <a:ext cx="12191400" cy="54360"/>
          </a:xfrm>
          <a:prstGeom prst="rect">
            <a:avLst/>
          </a:prstGeom>
          <a:solidFill>
            <a:srgbClr val="C97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4"/>
          <p:cNvSpPr/>
          <p:nvPr/>
        </p:nvSpPr>
        <p:spPr>
          <a:xfrm>
            <a:off x="548640" y="1417320"/>
            <a:ext cx="11063880" cy="1188360"/>
          </a:xfrm>
          <a:prstGeom prst="rect">
            <a:avLst/>
          </a:prstGeom>
          <a:solidFill>
            <a:srgbClr val="F4F6F9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777240" y="1508760"/>
            <a:ext cx="10606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Project Supervisor  —  Mr. Dhirendra Kumar Yadav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Department of CSIT, Amrit Campus — for continuous guidance, technical insights, and valuable feedback throughout development.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6"/>
          <p:cNvSpPr/>
          <p:nvPr/>
        </p:nvSpPr>
        <p:spPr>
          <a:xfrm>
            <a:off x="548640" y="2715840"/>
            <a:ext cx="11063880" cy="1188360"/>
          </a:xfrm>
          <a:prstGeom prst="rect">
            <a:avLst/>
          </a:prstGeom>
          <a:solidFill>
            <a:srgbClr val="F4F6F9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7"/>
          <p:cNvSpPr/>
          <p:nvPr/>
        </p:nvSpPr>
        <p:spPr>
          <a:xfrm>
            <a:off x="777240" y="2807280"/>
            <a:ext cx="10606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Head / Coordinator  —  Mr. Dabbal Singh Mahara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Department of CSIT, Amrit Campus — for constant support, coordination, and academic guidance during the project period.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8"/>
          <p:cNvSpPr/>
          <p:nvPr/>
        </p:nvSpPr>
        <p:spPr>
          <a:xfrm>
            <a:off x="548640" y="4014360"/>
            <a:ext cx="11063880" cy="1188360"/>
          </a:xfrm>
          <a:prstGeom prst="rect">
            <a:avLst/>
          </a:prstGeom>
          <a:solidFill>
            <a:srgbClr val="F4F6F9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9"/>
          <p:cNvSpPr/>
          <p:nvPr/>
        </p:nvSpPr>
        <p:spPr>
          <a:xfrm>
            <a:off x="777240" y="4105800"/>
            <a:ext cx="10606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Department  —  Department of Computer Science &amp; Information Technology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Amrit Campus, Tribhuvan University — for providing the academic foundation and resources for this project.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10"/>
          <p:cNvSpPr/>
          <p:nvPr/>
        </p:nvSpPr>
        <p:spPr>
          <a:xfrm>
            <a:off x="548640" y="5312520"/>
            <a:ext cx="11063880" cy="1188360"/>
          </a:xfrm>
          <a:prstGeom prst="rect">
            <a:avLst/>
          </a:prstGeom>
          <a:solidFill>
            <a:srgbClr val="F4F6F9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1"/>
          <p:cNvSpPr/>
          <p:nvPr/>
        </p:nvSpPr>
        <p:spPr>
          <a:xfrm>
            <a:off x="777240" y="5403960"/>
            <a:ext cx="10606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Evaluating Committee  —  External and Internal Examiners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Institute of Science &amp; Technology, Tribhuvan University — for their time and evaluation of this work.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LibreOffice/26.2.4.2$Linux_X86_64 LibreOffice_project/3346a99e6b841765b75a9b29714a5b95c6761ce3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2026-07-09T21:29:47Z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